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18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MAKING &amp; PATTERN RECOGNITION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Generative AI for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Treatment, Payment &amp; Operations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1C2D4C"/>
          </a:solidFill>
          <a:ln w="12700">
            <a:solidFill>
              <a:srgbClr val="33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4206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 BALARAJU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4498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Candidate Submission · Cotiviti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6300216"/>
            <a:ext cx="365760" cy="82296"/>
          </a:xfrm>
          <a:prstGeom prst="line">
            <a:avLst/>
          </a:prstGeom>
          <a:noFill/>
          <a:ln w="27940">
            <a:solidFill>
              <a:srgbClr val="557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6300216"/>
            <a:ext cx="365760" cy="38405"/>
          </a:xfrm>
          <a:prstGeom prst="line">
            <a:avLst/>
          </a:prstGeom>
          <a:noFill/>
          <a:ln w="27940">
            <a:solidFill>
              <a:srgbClr val="557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63040" y="6217920"/>
            <a:ext cx="365760" cy="120701"/>
          </a:xfrm>
          <a:prstGeom prst="line">
            <a:avLst/>
          </a:prstGeom>
          <a:noFill/>
          <a:ln w="27940">
            <a:solidFill>
              <a:srgbClr val="557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0" y="6217920"/>
            <a:ext cx="365760" cy="43891"/>
          </a:xfrm>
          <a:prstGeom prst="line">
            <a:avLst/>
          </a:prstGeom>
          <a:noFill/>
          <a:ln w="27940">
            <a:solidFill>
              <a:srgbClr val="557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94560" y="6163056"/>
            <a:ext cx="365760" cy="98755"/>
          </a:xfrm>
          <a:prstGeom prst="line">
            <a:avLst/>
          </a:prstGeom>
          <a:noFill/>
          <a:ln w="27940">
            <a:solidFill>
              <a:srgbClr val="557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6163056"/>
            <a:ext cx="365760" cy="27432"/>
          </a:xfrm>
          <a:prstGeom prst="line">
            <a:avLst/>
          </a:prstGeom>
          <a:noFill/>
          <a:ln w="27940">
            <a:solidFill>
              <a:srgbClr val="557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5998464"/>
            <a:ext cx="365760" cy="192024"/>
          </a:xfrm>
          <a:prstGeom prst="line">
            <a:avLst/>
          </a:prstGeom>
          <a:noFill/>
          <a:ln w="27940">
            <a:solidFill>
              <a:srgbClr val="D648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5998464"/>
            <a:ext cx="365760" cy="219456"/>
          </a:xfrm>
          <a:prstGeom prst="line">
            <a:avLst/>
          </a:prstGeom>
          <a:noFill/>
          <a:ln w="27940">
            <a:solidFill>
              <a:srgbClr val="557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0" y="6217920"/>
            <a:ext cx="365760" cy="54864"/>
          </a:xfrm>
          <a:prstGeom prst="line">
            <a:avLst/>
          </a:prstGeom>
          <a:noFill/>
          <a:ln w="27940">
            <a:solidFill>
              <a:srgbClr val="557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23360" y="6245352"/>
            <a:ext cx="365760" cy="27432"/>
          </a:xfrm>
          <a:prstGeom prst="line">
            <a:avLst/>
          </a:prstGeom>
          <a:noFill/>
          <a:ln w="27940">
            <a:solidFill>
              <a:srgbClr val="557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F8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 SIGNAL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static recommendations to agentic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9AA7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Prediction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records to categories (fraud / not fraud) and estimating future outcomes like readmission risk.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9AA7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6280" y="1783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Inference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26280" y="2148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similar cases without predefined labels, and drawing conclusions from incomplete clinical or claims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9AA7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75320" y="1783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Anomaly Detection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75320" y="2148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deviations from an expected pattern over time — the statistical trigger for our Agentic POC.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15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generative AI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370832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clinical decision support offered a single static recommendation. Agentic systems — one or more LLM-driven agents that plan, call tools, and query databases — can gather supporting evidence, reconcile conflicting sources, and adjust their plan as new information arrives. This shifts AI from a consultative tool toward an active participant in clinical and administrative (TPO) workflows.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forces reshaping payment-integrity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7F8FA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9AA7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 care executives expect agentic &amp; generative AI to deliver moderate-to-significant value across clinical and back-office functions in 2026.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7F8FA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9AA7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BA8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 platforms now score full claims populations — not samples — combining classification, anomaly detection, and reinforcement learning.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7F8FA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9AA7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0" y="1828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D64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21040" y="25146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guidance gives CDS tools more room for single recommendations, but leaves “clinically appropriate” undefined — oversight stays risk-calibrated.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upside and the risk both concentrate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E7F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BA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A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Higher-precision FWA detection by combining anomaly detection with predictive scoring to surface novel fraud patterns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A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3474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claims triage that pre-packages evidence for human reviewers, cutting time-to-decision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A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47091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scoring as a market differentiator as clients expect auditable reason codes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ambiguity: undefined terms like “clinically appropriate” create compliance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474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gaming: bad actors use generative tools of their own to evade detection 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7091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Over-trust in automated outputs: reviewers may anchor on AI recommendations with weak evidentiary basis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PROOF OF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</a:t>
            </a:r>
            <a:r>
              <a:rPr lang="en-US" sz="2400" b="1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demonstrator of time-series anomaly detection, routing flagged claims to downstream Agentic investigation.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647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F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482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claim series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85800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billed-amount sequences per provider.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69164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7647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F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20482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rolling baseline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926080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mean &amp; std. dev. establish the expected range.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169164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66360" y="17647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F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20482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flag deviations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166360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beyond the z-score threshold are flagged.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169164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17647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F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20482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 reason code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406640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flag reports a plain-language, auditable reason.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09760" y="169164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46920" y="17647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FB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46920" y="20482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browser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646920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&amp; sensitivity adjustable; recomputes instantly.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154680"/>
            <a:ext cx="73152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9AA7B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0" descr="/home/claude/cotiviti-intern/poc/poc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3246120"/>
            <a:ext cx="6720840" cy="3063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092440" y="3154680"/>
            <a:ext cx="3547872" cy="3246120"/>
          </a:xfrm>
          <a:prstGeom prst="roundRect">
            <a:avLst>
              <a:gd name="adj" fmla="val 1690"/>
            </a:avLst>
          </a:prstGeom>
          <a:solidFill>
            <a:srgbClr val="15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321040" y="3310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BRIDGE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321040" y="3657600"/>
            <a:ext cx="3108960" cy="777240"/>
          </a:xfrm>
          <a:prstGeom prst="roundRect">
            <a:avLst>
              <a:gd name="adj" fmla="val 5882"/>
            </a:avLst>
          </a:prstGeom>
          <a:solidFill>
            <a:srgbClr val="1C2D4C"/>
          </a:solidFill>
          <a:ln w="12700">
            <a:solidFill>
              <a:srgbClr val="33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503920" y="3730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503920" y="3950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Engine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503920" y="4206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AA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z-score detector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9738360" y="4498848"/>
            <a:ext cx="274320" cy="292608"/>
          </a:xfrm>
          <a:prstGeom prst="downArrow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0104120" y="45262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&gt; ±2.0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321040" y="4864608"/>
            <a:ext cx="3108960" cy="1051560"/>
          </a:xfrm>
          <a:prstGeom prst="roundRect">
            <a:avLst>
              <a:gd name="adj" fmla="val 4348"/>
            </a:avLst>
          </a:prstGeom>
          <a:solidFill>
            <a:srgbClr val="2A1E3D"/>
          </a:solidFill>
          <a:ln w="15875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503920" y="4937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503920" y="51572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Clinical Reasoner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8503920" y="5623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D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EHR proof; drafts narrative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worth piloting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claims-investigation assistant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7568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assembles evidence — claim history, provider patterns, policy language — behind every anomaly flag, with a human approving the final call.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built into the roadmap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58444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Tiered, audit-ready reason codes for every flagged claim, ahead of likely future FDA and payer documentation requirements.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6634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continuous model retraining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0932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moving from static thresholds to online retraining on the claim types most exposed to adversarial gaming.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B9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POC source code, </a:t>
            </a:r>
            <a:r>
              <a:rPr lang="en-US" sz="1400" i="1">
                <a:solidFill>
                  <a:srgbClr val="B9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ppt, </a:t>
            </a:r>
            <a:r>
              <a:rPr lang="en-US" sz="1400" i="1" dirty="0">
                <a:solidFill>
                  <a:srgbClr val="B9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recorded walkthrough are included in my submission repository on GitHub: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1C2D4C"/>
          </a:solidFill>
          <a:ln w="1270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3886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github.com/balarajuaishwarya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F8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 BALARAJU  ·  COTIVITI INTERN ASSESSMENT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578</Words>
  <Application>Microsoft Macintosh PowerPoint</Application>
  <PresentationFormat>Widescreen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Decision Making and Pattern Recognition in Health Care</dc:title>
  <dc:subject>PptxGenJS Presentation</dc:subject>
  <dc:creator>Aishwarya Balaraju</dc:creator>
  <cp:lastModifiedBy>Balaraju, Aishwarya</cp:lastModifiedBy>
  <cp:revision>6</cp:revision>
  <dcterms:created xsi:type="dcterms:W3CDTF">2026-06-29T18:36:50Z</dcterms:created>
  <dcterms:modified xsi:type="dcterms:W3CDTF">2026-06-29T19:15:38Z</dcterms:modified>
</cp:coreProperties>
</file>